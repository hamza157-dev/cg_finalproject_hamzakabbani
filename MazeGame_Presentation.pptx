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89B4FA">
              <a:alpha val="12000"/>
            </a:srgbClr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89B4FA">
              <a:alpha val="25000"/>
            </a:srgbClr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MAZE GAME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Graphics Final Project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· Modern OpenGL 3.3 Core Profile · GLFW · GLAD · GLM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645920" cy="411480"/>
          </a:xfrm>
          <a:prstGeom prst="roundRect">
            <a:avLst/>
          </a:prstGeom>
          <a:solidFill>
            <a:srgbClr val="A6E3A1">
              <a:alpha val="80000"/>
            </a:srgbClr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B"/>
                </a:solidFill>
              </a:rPr>
              <a:t>7 Criteria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3840480"/>
            <a:ext cx="1645920" cy="411480"/>
          </a:xfrm>
          <a:prstGeom prst="roundRect">
            <a:avLst/>
          </a:prstGeom>
          <a:solidFill>
            <a:srgbClr val="F9E2AF">
              <a:alpha val="80000"/>
            </a:srgbClr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B"/>
                </a:solidFill>
              </a:rPr>
              <a:t>14 Marks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840480"/>
            <a:ext cx="1645920" cy="411480"/>
          </a:xfrm>
          <a:prstGeom prst="roundRect">
            <a:avLst/>
          </a:prstGeom>
          <a:solidFill>
            <a:srgbClr val="F38BA8">
              <a:alpha val="80000"/>
            </a:srgbClr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B"/>
                </a:solidFill>
              </a:rPr>
              <a:t>Pure OpenGL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B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Game?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1417320"/>
          </a:xfrm>
          <a:prstGeom prst="rect">
            <a:avLst/>
          </a:prstGeom>
          <a:solidFill>
            <a:srgbClr val="2A2A3D"/>
          </a:solidFill>
          <a:ln w="1016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44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First-Person Maze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 3D maze from the player's perspective using WASD and mouse look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4160520" cy="1417320"/>
          </a:xfrm>
          <a:prstGeom prst="rect">
            <a:avLst/>
          </a:prstGeom>
          <a:solidFill>
            <a:srgbClr val="2A2A3D"/>
          </a:solidFill>
          <a:ln w="1016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44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Collect Items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gold cubes scattered across the maze — walk into them to collect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60520" cy="1417320"/>
          </a:xfrm>
          <a:prstGeom prst="rect">
            <a:avLst/>
          </a:prstGeom>
          <a:solidFill>
            <a:srgbClr val="2A2A3D"/>
          </a:solidFill>
          <a:ln w="1016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944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Win Condition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5 items to win — score tracked live in the window title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834640"/>
            <a:ext cx="4160520" cy="1417320"/>
          </a:xfrm>
          <a:prstGeom prst="rect">
            <a:avLst/>
          </a:prstGeom>
          <a:solidFill>
            <a:srgbClr val="2A2A3D"/>
          </a:solidFill>
          <a:ln w="1016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944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Real Collisions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337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collision detection prevents walking through walls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B"/>
                </a:solidFill>
              </a:rPr>
              <a:t>CRITERION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Setup &amp; Render Loop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1371600"/>
          </a:xfrm>
          <a:prstGeom prst="rect">
            <a:avLst/>
          </a:prstGeom>
          <a:solidFill>
            <a:srgbClr val="2A2A3D"/>
          </a:solidFill>
          <a:ln w="12700">
            <a:solidFill>
              <a:srgbClr val="F9E2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GLFW + GLAD Init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GLFW creates the OS window and sets up OpenGL 3.3 Core Profile context.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 loads GPU driver functions at runtime so we can call glDraw*, glGen*, etc.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3931920" cy="1371600"/>
          </a:xfrm>
          <a:prstGeom prst="rect">
            <a:avLst/>
          </a:prstGeom>
          <a:solidFill>
            <a:srgbClr val="2A2A3D"/>
          </a:solidFill>
          <a:ln w="12700">
            <a:solidFill>
              <a:srgbClr val="A6E3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Loop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frame: clear screen → process input → draw scene → swap buffers.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deltaTime = time between frames → used to make speed frame-rate independent.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4434840" cy="3474720"/>
          </a:xfrm>
          <a:prstGeom prst="rect">
            <a:avLst/>
          </a:prstGeom>
          <a:solidFill>
            <a:srgbClr val="2A2A3D"/>
          </a:solidFill>
          <a:ln w="635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11887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glfwInit();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glfwWindowHint(GLFW_CONTEXT_VERSION_MAJOR, 3);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glfwWindowHint(GLFW_OPENGL_PROFILE,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GLFW_OPENGL_CORE_PROFILE);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gladLoadGLLoader(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(GLADloadproc)glfwGetProcAddress);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glEnable(GL_DEPTH_TEST);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(!glfwWindowShouldClose(window))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deltaTime = currentFrame - lastFrame;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glClear(COLOR | DEPTH);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draw...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glfwSwapBuffers(window);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B"/>
                </a:solidFill>
              </a:rPr>
              <a:t>CRITERION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Geometry — VAO / VBO / EBO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468880" cy="45720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B"/>
                </a:solidFill>
              </a:rPr>
              <a:t>VBO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468880" cy="1280160"/>
          </a:xfrm>
          <a:prstGeom prst="rect">
            <a:avLst/>
          </a:prstGeom>
          <a:solidFill>
            <a:srgbClr val="2A2A3D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raw vertex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(positions + colors)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once to GPU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468880" cy="45720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B"/>
                </a:solidFill>
              </a:rPr>
              <a:t>EBO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1645920"/>
            <a:ext cx="2468880" cy="1280160"/>
          </a:xfrm>
          <a:prstGeom prst="rect">
            <a:avLst/>
          </a:prstGeom>
          <a:solidFill>
            <a:srgbClr val="2A2A3D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list telling GPU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vertices 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triangle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468880" cy="457200"/>
          </a:xfrm>
          <a:prstGeom prst="rect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B"/>
                </a:solidFill>
              </a:rPr>
              <a:t>VAO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2468880" cy="1280160"/>
          </a:xfrm>
          <a:prstGeom prst="rect">
            <a:avLst/>
          </a:prstGeom>
          <a:solidFill>
            <a:srgbClr val="2A2A3D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VBO/EBO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layout. Bind once → GPU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everything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2286000"/>
            <a:ext cx="365760" cy="0"/>
          </a:xfrm>
          <a:prstGeom prst="line">
            <a:avLst/>
          </a:prstGeom>
          <a:noFill/>
          <a:ln w="19050">
            <a:solidFill>
              <a:srgbClr val="585B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2286000"/>
            <a:ext cx="365760" cy="0"/>
          </a:xfrm>
          <a:prstGeom prst="line">
            <a:avLst/>
          </a:prstGeom>
          <a:noFill/>
          <a:ln w="19050">
            <a:solidFill>
              <a:srgbClr val="585B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63240"/>
            <a:ext cx="8412480" cy="1828800"/>
          </a:xfrm>
          <a:prstGeom prst="rect">
            <a:avLst/>
          </a:prstGeom>
          <a:solidFill>
            <a:srgbClr val="2A2A3D"/>
          </a:solidFill>
          <a:ln w="635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" y="3154680"/>
            <a:ext cx="8183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glGenVertexArrays(1, &amp;mesh.VAO);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glGenBuffers(1, &amp;mesh.VBO);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glGenBuffers(1, &amp;mesh.EBO);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glBindVertexArray(mesh.VAO);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glBufferData(GL_ARRAY_BUFFER, ...vertices...);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glBufferData(GL_ELEMENT_ARRAY_BUFFER, ...indices...);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Tell GPU: attr 0 = position (3 floats)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glVertexAttribPointer(0, 3, GL_FLOAT, ...);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attr 1 = color (3 floats, offset 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glVertexAttribPointer(1, 3, GL_FLOAT, ...);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glDrawElements(GL_TRIANGLES, 36, ...); // draw cube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B"/>
                </a:solidFill>
              </a:rPr>
              <a:t>CRITERION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Shaders &amp; Lighting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463040"/>
          </a:xfrm>
          <a:prstGeom prst="rect">
            <a:avLst/>
          </a:prstGeom>
          <a:solidFill>
            <a:srgbClr val="2A2A3D"/>
          </a:solidFill>
          <a:ln w="635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3444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VERTEX SHADER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gl_Position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projection * view *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vec4(aPos, 1.0);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fragPos = vec3(model * vec4(aPos,1.0));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4114800" cy="2011680"/>
          </a:xfrm>
          <a:prstGeom prst="rect">
            <a:avLst/>
          </a:prstGeom>
          <a:solidFill>
            <a:srgbClr val="2A2A3D"/>
          </a:solidFill>
          <a:ln w="635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88036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FRAGMENT SHADER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vec3 ambient = 0.4 * lightColor;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vec3 lightDir = normalize(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lightPos - fragPos);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diff = max(dot(norm,lightDir),0.0);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vec3 diffuse = diff * lightColor;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FragColor = vec4(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(ambient+diffuse)*vertexColor, 1.0);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60520" cy="1005840"/>
          </a:xfrm>
          <a:prstGeom prst="rect">
            <a:avLst/>
          </a:prstGeom>
          <a:solidFill>
            <a:srgbClr val="2A2A3D"/>
          </a:solidFill>
          <a:ln w="1270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234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Shader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554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vertex. Multiplies MVP matrices to place the point on screen.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4160520" cy="1051560"/>
          </a:xfrm>
          <a:prstGeom prst="rect">
            <a:avLst/>
          </a:prstGeom>
          <a:solidFill>
            <a:srgbClr val="2A2A3D"/>
          </a:solidFill>
          <a:ln w="12700">
            <a:solidFill>
              <a:srgbClr val="F9E2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377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Light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6974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base light (40%). Ensures nothing is completely black even in shadow.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3474720"/>
            <a:ext cx="4160520" cy="1188720"/>
          </a:xfrm>
          <a:prstGeom prst="rect">
            <a:avLst/>
          </a:prstGeom>
          <a:solidFill>
            <a:srgbClr val="2A2A3D"/>
          </a:solidFill>
          <a:ln w="12700">
            <a:solidFill>
              <a:srgbClr val="A6E3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3566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Light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8862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strength depends on angle. Surface facing the light = full brightness. Surface perpendicular = dark.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B"/>
                </a:solidFill>
              </a:rPr>
              <a:t>CRITERION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822960"/>
          </a:xfrm>
          <a:prstGeom prst="rect">
            <a:avLst/>
          </a:prstGeom>
          <a:solidFill>
            <a:srgbClr val="2A2A3D"/>
          </a:solidFill>
          <a:ln w="1270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Camera Vectors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cameraPos (where), cameraFront (direction), cameraUp (orientation).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glm::lookAt() builds the View matrix from these.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023360" cy="1005840"/>
          </a:xfrm>
          <a:prstGeom prst="rect">
            <a:avLst/>
          </a:prstGeom>
          <a:solidFill>
            <a:srgbClr val="2A2A3D"/>
          </a:solidFill>
          <a:ln w="12700">
            <a:solidFill>
              <a:srgbClr val="F9E2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Look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X → yaw (left/right). Mouse Y → pitch (up/down).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clamped to ±89° to prevent flipping. Angles → direction vector via cos/sin.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2A2A3D"/>
          </a:solidFill>
          <a:ln w="12700">
            <a:solidFill>
              <a:srgbClr val="A6E3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Movement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flatFront ignores Y so player stays on ground.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= cross(flatFront, up). All speeds multiplied by deltaTime.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4251960" cy="3657600"/>
          </a:xfrm>
          <a:prstGeom prst="rect">
            <a:avLst/>
          </a:prstGeom>
          <a:solidFill>
            <a:srgbClr val="2A2A3D"/>
          </a:solidFill>
          <a:ln w="635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27448" y="118872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Yaw + Pitch → direction vector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front.x = cos(radians(yaw))*cos(radians(pitch));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front.y = sin(radians(pitch));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front.z = sin(radians(yaw))*cos(radians(pitch));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cameraFront = normalize(front);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View matrix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= lookAt(cameraPos,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cameraPos + cameraFront, up);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Projection matrix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 = perspective(radians(70.0f),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800.0f/600.0f, 0.1f, 100.0f);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B"/>
                </a:solidFill>
              </a:rPr>
              <a:t>CRITERION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Collision Detection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188720"/>
          </a:xfrm>
          <a:prstGeom prst="rect">
            <a:avLst/>
          </a:prstGeom>
          <a:solidFill>
            <a:srgbClr val="2A2A3D"/>
          </a:solidFill>
          <a:ln w="1270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AABB?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Axis-Aligned Bounding Box. Each wall is a rectangle with minX, maxX, minZ, maxZ.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= circle with radius 0.3.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4023360" cy="1188720"/>
          </a:xfrm>
          <a:prstGeom prst="rect">
            <a:avLst/>
          </a:prstGeom>
          <a:solidFill>
            <a:srgbClr val="2A2A3D"/>
          </a:solidFill>
          <a:ln w="12700">
            <a:solidFill>
              <a:srgbClr val="A6E3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560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newPos (where player wants to move).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newPos against all WallBoxes.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overlap → block. If clear → allow move.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4023360" cy="1005840"/>
          </a:xfrm>
          <a:prstGeom prst="rect">
            <a:avLst/>
          </a:prstGeom>
          <a:solidFill>
            <a:srgbClr val="2A2A3D"/>
          </a:solidFill>
          <a:ln w="12700">
            <a:solidFill>
              <a:srgbClr val="F9E2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AABB?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and works perfectly for box-shaped maze walls. No complex geometry needed.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4251960" cy="3657600"/>
          </a:xfrm>
          <a:prstGeom prst="rect">
            <a:avLst/>
          </a:prstGeom>
          <a:solidFill>
            <a:srgbClr val="2A2A3D"/>
          </a:solidFill>
          <a:ln w="635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27448" y="118872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WallBox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minX, maxX, minZ, maxZ;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radius = 0.3f;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blocked = false;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(auto&amp; w : walls)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(newPos.x+radius &gt; w.minX &amp;&amp;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newPos.x-radius &lt; w.maxX &amp;&amp;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newPos.z+radius &gt; w.minZ &amp;&amp;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newPos.z-radius &lt; w.maxZ)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blocked = true;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(!blocked) cameraPos = newPos;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B"/>
                </a:solidFill>
              </a:rPr>
              <a:t>CRITERION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 &amp; HUD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097280"/>
          </a:xfrm>
          <a:prstGeom prst="rect">
            <a:avLst/>
          </a:prstGeom>
          <a:solidFill>
            <a:srgbClr val="2A2A3D"/>
          </a:solidFill>
          <a:ln w="12700">
            <a:solidFill>
              <a:srgbClr val="A6E3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Collectible 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collectible has a position and a 'collected' bool.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frame: if not collected → draw it, check if player is within 0.8 units.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114800" cy="1097280"/>
          </a:xfrm>
          <a:prstGeom prst="rect">
            <a:avLst/>
          </a:prstGeom>
          <a:solidFill>
            <a:srgbClr val="2A2A3D"/>
          </a:solidFill>
          <a:ln w="1270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HUD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increments on collection. Window title updates every frame showing current score/total.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4114800" cy="1005840"/>
          </a:xfrm>
          <a:prstGeom prst="rect">
            <a:avLst/>
          </a:prstGeom>
          <a:solidFill>
            <a:srgbClr val="2A2A3D"/>
          </a:solidFill>
          <a:ln w="12700">
            <a:solidFill>
              <a:srgbClr val="F9E2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023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score == total collectibles → title shows YOU WIN. Clear state machine: playing → won.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206240" cy="3749040"/>
          </a:xfrm>
          <a:prstGeom prst="rect">
            <a:avLst/>
          </a:prstGeom>
          <a:solidFill>
            <a:srgbClr val="2A2A3D"/>
          </a:solidFill>
          <a:ln w="6350">
            <a:solidFill>
              <a:srgbClr val="89B4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118872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Collectible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glm::vec3 position;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collected = false;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Collection check (XZ only)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glm::vec2 pXZ = {cameraPos.x, cameraPos.z};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glm::vec2 cXZ = {c.position.x, c.position.z};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(length(pXZ - cXZ) &lt; 0.8f)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c.collected = true;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score++;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title = "Score: " + to_string(score);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== total) title = "YOU WIN!";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glfwSetWindowTitle(window, title.c_str());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B"/>
                </a:solidFill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Criteria Covered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6576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&amp; Render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GLFW + GLAD + Core Profile + deltaTime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 Geometry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VAO/VBO/EBO, MVP matrices, drawMesh()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lookAt(), yaw/pitch, WASD flatFront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Effects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GLSL ambient + diffuse lighting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&amp; Controls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First-person movement + collectibles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 &amp; Maze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AABB WallBox, radius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Logic &amp; HUD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score, collected flag, window title HUD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B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9B4FA">
              <a:alpha val="8000"/>
            </a:srgbClr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89B4FA">
              <a:alpha val="15000"/>
            </a:srgbClr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questions &amp; live demo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· OpenGL 3.3 · GLFW · GLAD · GLM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Maze Game — Computer Graphics</dc:title>
  <dc:subject>PptxGenJS Presentation</dc:subject>
  <dc:creator>PptxGenJS</dc:creator>
  <cp:lastModifiedBy>PptxGenJS</cp:lastModifiedBy>
  <cp:revision>1</cp:revision>
  <dcterms:created xsi:type="dcterms:W3CDTF">2026-04-21T11:25:11Z</dcterms:created>
  <dcterms:modified xsi:type="dcterms:W3CDTF">2026-04-21T11:25:11Z</dcterms:modified>
</cp:coreProperties>
</file>